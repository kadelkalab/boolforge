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1" r:id="rId2"/>
    <p:sldId id="257" r:id="rId3"/>
    <p:sldId id="267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F8B3D-5357-C546-A5D9-7F7BE5B15DFC}" v="2" dt="2026-06-11T06:00:25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elka, Claus [MATH]" userId="3587954921_tp_box_2" providerId="OAuth2" clId="{3A5D34D3-13CC-588F-87D8-4157F9E149E9}"/>
    <pc:docChg chg="addSld delSld modSld">
      <pc:chgData name="Kadelka, Claus [MATH]" userId="3587954921_tp_box_2" providerId="OAuth2" clId="{3A5D34D3-13CC-588F-87D8-4157F9E149E9}" dt="2026-06-11T06:01:10.613" v="2" actId="2696"/>
      <pc:docMkLst>
        <pc:docMk/>
      </pc:docMkLst>
      <pc:sldChg chg="del">
        <pc:chgData name="Kadelka, Claus [MATH]" userId="3587954921_tp_box_2" providerId="OAuth2" clId="{3A5D34D3-13CC-588F-87D8-4157F9E149E9}" dt="2026-06-11T06:01:10.613" v="2" actId="2696"/>
        <pc:sldMkLst>
          <pc:docMk/>
          <pc:sldMk cId="4257418999" sldId="256"/>
        </pc:sldMkLst>
      </pc:sldChg>
      <pc:sldChg chg="add">
        <pc:chgData name="Kadelka, Claus [MATH]" userId="3587954921_tp_box_2" providerId="OAuth2" clId="{3A5D34D3-13CC-588F-87D8-4157F9E149E9}" dt="2026-06-11T06:00:25.956" v="1"/>
        <pc:sldMkLst>
          <pc:docMk/>
          <pc:sldMk cId="3969123646" sldId="267"/>
        </pc:sldMkLst>
      </pc:sldChg>
      <pc:sldChg chg="add">
        <pc:chgData name="Kadelka, Claus [MATH]" userId="3587954921_tp_box_2" providerId="OAuth2" clId="{3A5D34D3-13CC-588F-87D8-4157F9E149E9}" dt="2026-06-11T06:00:25.956" v="1"/>
        <pc:sldMkLst>
          <pc:docMk/>
          <pc:sldMk cId="3162223427" sldId="269"/>
        </pc:sldMkLst>
      </pc:sldChg>
      <pc:sldChg chg="add">
        <pc:chgData name="Kadelka, Claus [MATH]" userId="3587954921_tp_box_2" providerId="OAuth2" clId="{3A5D34D3-13CC-588F-87D8-4157F9E149E9}" dt="2026-06-11T05:59:57.892" v="0"/>
        <pc:sldMkLst>
          <pc:docMk/>
          <pc:sldMk cId="2913835367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899B2-8E01-FA47-A090-BEDCEA97A67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5729C-D18C-3740-A1AE-2EDF1FAD7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for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1E1C5-D11A-164E-ACBF-BFC252B297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08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1E1C5-D11A-164E-ACBF-BFC252B297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35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1B669-5483-BB59-7710-5F841692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9F1B1-67DB-7D51-118B-E13D0DB99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60875-1B64-B17D-1EF8-C275206E2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CEAFA-8701-B36B-8E10-2F0DCDBAC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1E1C5-D11A-164E-ACBF-BFC252B297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46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DD5F-1F42-3F94-526A-ED295E7E7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22B73-D56F-9F41-8080-8CE1100F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958A-05CC-D8E0-AECC-87A7C69C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A6AE6-3028-C6EC-5E84-41DDD492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6661-5A7D-93C0-EDEF-82089BD8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5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720D-0771-5359-4EC8-0CDD1443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1BD8-1110-6C06-C7BB-44172F025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A0977-8DB4-ECEE-9091-D31A79F2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8F96-A609-AA93-CC2D-21870CD4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8BBA-4CB2-A28A-A091-C489F5B2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5D38-B70F-9B52-0864-5D16679E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232C6-B064-7CEB-9836-D0068C444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3A11-3C5A-2F9F-A285-387DA6F4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77CA-0D9C-52F7-9C10-3830141C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F7BE-D4AC-F6E8-8BA9-C8D40E12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8CEB-2227-7B5A-7902-41281D4D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5857-2F70-C3A2-0737-DAD869BC7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AA5FB-8177-EAE4-5282-B01BCE25B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78DA9-AFE6-A93A-F1D2-78938F7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E9A7F-69EB-63A7-8932-3606332F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B2201-C2CF-BD01-ADF1-2D2F06DE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1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0564-04A5-BD6A-F59D-D540F301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64615-2A27-E0E6-3D2E-75E0D20D6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97AFF-DE62-AE9B-7B17-8C2DFC4E9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57AE0-0D6E-066E-EFE9-FD8F1D18A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96B99-940C-2AFF-2B43-E10DD609B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7A775-D6F6-6BF4-5EEE-EABF795A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469B4-FFEE-0729-29BA-8566C86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22761-CD91-D5E3-E802-8916ADE1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5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E058-3DD7-41FB-41BC-92432C11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052E9-B98C-6980-71BA-059C715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3E58E-7EA9-035C-1CF1-2B05BB42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B849D-8101-6A2B-EAED-19BF27B3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D61B3-7CE0-F1D2-8B80-52DC90E4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56824-DCAD-FD87-5571-E9A2487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77BA7-E194-9342-2FC7-B8387CD7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3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249D-25EE-74F1-357B-0F3CCC62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6100-C32B-85F5-A31B-1A411CBDC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37C8A-9612-1C70-F31A-8DF595A1A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BA9F7-D742-18A0-A994-48F74F72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FAC8-C675-3471-DD2A-22A8B79A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03E4-0E0B-C5DA-DDB3-F80E6AA6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1C40-885E-17D5-B5F3-8178725A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0CEBB-DAFC-CDE1-904F-87AC99B1C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023BA-4A24-106C-A15A-7FACE6D78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ADDB-795F-5DF6-3F94-C03D2175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C4638-0075-3944-4966-B5C2214A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42F5-96E1-F424-9DAD-CF88A5A3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9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FC20-124C-4C3E-BE0C-B43CE5CC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7BCF2-CC6E-9C09-EE11-1335E19F4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C92A-4A00-27B3-3D27-0BCA207C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F0BAF-F5F3-42EC-F936-606DC467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91D8-F687-7484-D862-CEA2252E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D1256-11A1-4153-E144-9E68E78E2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FF30C-81E6-89C5-6A5F-C9BC1C60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5C59-3EFA-46F0-0078-DF8A38C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B3BD-774B-1EC6-C2D3-D14F4773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5662-10D1-4719-D414-ED86693C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2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B2F87-854C-890D-4C3F-C120DC13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A12A8-4237-A525-74F2-CD8B1A36B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6DD67-1917-D3D1-5548-C3DA14C8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56932-D8DD-66AF-6E81-9D9E3992A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3F06D-16DF-5FD7-1038-A4720C34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2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e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A55B-B4D7-EA6D-FC93-36266B78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30D08E-44AE-D0A2-1AF4-8A2281AA45A1}"/>
              </a:ext>
            </a:extLst>
          </p:cNvPr>
          <p:cNvSpPr txBox="1"/>
          <p:nvPr/>
        </p:nvSpPr>
        <p:spPr>
          <a:xfrm>
            <a:off x="2464890" y="1429795"/>
            <a:ext cx="2931569" cy="1140143"/>
          </a:xfrm>
          <a:prstGeom prst="roundRect">
            <a:avLst>
              <a:gd name="adj" fmla="val 5071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User Input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Random network design</a:t>
            </a:r>
            <a:br>
              <a:rPr lang="en-US" sz="800" b="1" dirty="0"/>
            </a:br>
            <a:r>
              <a:rPr lang="en-US" sz="800" dirty="0"/>
              <a:t>Specify network size, topological constraints (in-degree distribution, self-loops, strong connectivity, …), functional constraints (canalizing depth, layer structure, bias, …)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Biological network for matched null models</a:t>
            </a:r>
            <a:br>
              <a:rPr lang="en-US" sz="800" b="1" dirty="0"/>
            </a:br>
            <a:r>
              <a:rPr lang="en-US" sz="800" dirty="0"/>
              <a:t>Decide whether to preserve full wiring diagram, in- and/or out-degree distribution, canalizing depth, bias, 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E14F3E-CB16-C533-3B63-D46FB2C17C1D}"/>
              </a:ext>
            </a:extLst>
          </p:cNvPr>
          <p:cNvSpPr txBox="1"/>
          <p:nvPr/>
        </p:nvSpPr>
        <p:spPr>
          <a:xfrm>
            <a:off x="5672350" y="1429795"/>
            <a:ext cx="2931557" cy="1380411"/>
          </a:xfrm>
          <a:prstGeom prst="roundRect">
            <a:avLst>
              <a:gd name="adj" fmla="val 3851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Controlled Generation</a:t>
            </a:r>
            <a:r>
              <a:rPr lang="en-US" sz="800" dirty="0"/>
              <a:t>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Boolean Function Generators </a:t>
            </a:r>
            <a:br>
              <a:rPr lang="en-US" sz="800" dirty="0"/>
            </a:br>
            <a:r>
              <a:rPr lang="en-US" sz="800" dirty="0"/>
              <a:t>Function-uniform sampling under constraints:</a:t>
            </a:r>
            <a:br>
              <a:rPr lang="en-US" sz="800" dirty="0"/>
            </a:br>
            <a:r>
              <a:rPr lang="en-US" sz="800" dirty="0"/>
              <a:t>canalizing depth, layer structure, bias, ...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Boolean Network Generators</a:t>
            </a:r>
            <a:br>
              <a:rPr lang="en-US" sz="800" dirty="0"/>
            </a:br>
            <a:r>
              <a:rPr lang="en-US" sz="800" dirty="0"/>
              <a:t>Controlled topology and update-rule ensembles:</a:t>
            </a:r>
            <a:br>
              <a:rPr lang="en-US" sz="800" dirty="0"/>
            </a:br>
            <a:r>
              <a:rPr lang="en-US" sz="800" dirty="0"/>
              <a:t>degree distribution, function-level constraints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Matched null-model generators</a:t>
            </a:r>
            <a:br>
              <a:rPr lang="en-US" sz="800" b="1" dirty="0"/>
            </a:br>
            <a:r>
              <a:rPr lang="en-US" sz="800" dirty="0"/>
              <a:t>Preserve selected biological features while randomizing remaining network properties</a:t>
            </a:r>
            <a:endParaRPr lang="en-US" sz="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5D657E-674E-54F6-3B4C-5AE3527EB8EF}"/>
              </a:ext>
            </a:extLst>
          </p:cNvPr>
          <p:cNvSpPr txBox="1"/>
          <p:nvPr/>
        </p:nvSpPr>
        <p:spPr>
          <a:xfrm>
            <a:off x="5657161" y="3109306"/>
            <a:ext cx="2935224" cy="1254919"/>
          </a:xfrm>
          <a:prstGeom prst="roundRect">
            <a:avLst>
              <a:gd name="adj" fmla="val 4583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Analysis</a:t>
            </a:r>
            <a:r>
              <a:rPr lang="en-US" sz="800" dirty="0"/>
              <a:t>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Function-level analysis </a:t>
            </a:r>
            <a:br>
              <a:rPr lang="en-US" sz="800" dirty="0"/>
            </a:br>
            <a:r>
              <a:rPr lang="en-US" sz="800" dirty="0"/>
              <a:t>canalization, collective canalization, redundancy, symmetry, sensitivity, monotonicity, …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Network structure analysis </a:t>
            </a:r>
            <a:br>
              <a:rPr lang="en-US" sz="800" dirty="0"/>
            </a:br>
            <a:r>
              <a:rPr lang="en-US" sz="800" dirty="0"/>
              <a:t>feedback and feed-forward loops, modularity, …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Dynamical analysis</a:t>
            </a:r>
            <a:br>
              <a:rPr lang="en-US" sz="800" dirty="0"/>
            </a:br>
            <a:r>
              <a:rPr lang="en-US" sz="800" dirty="0"/>
              <a:t>attractors, full trajectories, basin entropy, Derrida values, coherence, perturbation fragility, 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02FE9E-4FD2-F921-5BA0-18BE9218DF83}"/>
              </a:ext>
            </a:extLst>
          </p:cNvPr>
          <p:cNvSpPr txBox="1"/>
          <p:nvPr/>
        </p:nvSpPr>
        <p:spPr>
          <a:xfrm>
            <a:off x="2464895" y="2752690"/>
            <a:ext cx="2931557" cy="1615916"/>
          </a:xfrm>
          <a:prstGeom prst="roundRect">
            <a:avLst>
              <a:gd name="adj" fmla="val 3240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Ensemble-based investigations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Function-level characterization (Fig. 3A)</a:t>
            </a:r>
            <a:br>
              <a:rPr lang="en-US" sz="800" dirty="0"/>
            </a:br>
            <a:r>
              <a:rPr lang="en-US" sz="800" dirty="0"/>
              <a:t>Compare 5,000+ biological Boolean functions with constraint-matched random ensembles to uncover structural design principles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Parameter space exploration (Fig. 3B)</a:t>
            </a:r>
            <a:br>
              <a:rPr lang="en-US" sz="800" dirty="0"/>
            </a:br>
            <a:r>
              <a:rPr lang="en-US" sz="800" dirty="0"/>
              <a:t>Systematically quantify how functional and topological parameters shape network dynamics and robustness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800" b="1" dirty="0"/>
              <a:t>Null model hypothesis testing (Fig. 3C)</a:t>
            </a:r>
            <a:br>
              <a:rPr lang="en-US" sz="800" dirty="0"/>
            </a:br>
            <a:r>
              <a:rPr lang="en-US" sz="800" dirty="0"/>
              <a:t>Assess the statistical significance of structural and dynamical features in biological networks using ensembles of matched null models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035FF3-B2F8-1970-41DC-0EC573D38B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396459" y="1987579"/>
            <a:ext cx="260702" cy="1228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67EF4C-4E39-E91C-F453-CC39F99ABB1D}"/>
              </a:ext>
            </a:extLst>
          </p:cNvPr>
          <p:cNvCxnSpPr>
            <a:cxnSpLocks/>
          </p:cNvCxnSpPr>
          <p:nvPr/>
        </p:nvCxnSpPr>
        <p:spPr>
          <a:xfrm>
            <a:off x="6959631" y="2798758"/>
            <a:ext cx="0" cy="3105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5EB058-C45B-FB02-3C97-D78E7C1821CB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394934" y="3726526"/>
            <a:ext cx="262227" cy="1024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25B2D3-15E3-475D-A8AE-69940803CA2C}"/>
              </a:ext>
            </a:extLst>
          </p:cNvPr>
          <p:cNvCxnSpPr>
            <a:cxnSpLocks/>
          </p:cNvCxnSpPr>
          <p:nvPr/>
        </p:nvCxnSpPr>
        <p:spPr>
          <a:xfrm flipV="1">
            <a:off x="7295211" y="2801395"/>
            <a:ext cx="0" cy="31705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A9E022B-7D34-EC66-3B46-EB1C5CAC4AA2}"/>
              </a:ext>
            </a:extLst>
          </p:cNvPr>
          <p:cNvSpPr txBox="1"/>
          <p:nvPr/>
        </p:nvSpPr>
        <p:spPr>
          <a:xfrm>
            <a:off x="7282790" y="2845172"/>
            <a:ext cx="11394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refine constraints</a:t>
            </a:r>
            <a:endParaRPr lang="en-US" sz="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35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F4B6-185D-CA2E-4C0D-1E623CFA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63878-AF8D-1191-2ED5-B91F91812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18"/>
          <a:stretch>
            <a:fillRect/>
          </a:stretch>
        </p:blipFill>
        <p:spPr>
          <a:xfrm>
            <a:off x="4629925" y="1560668"/>
            <a:ext cx="3479800" cy="26334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67AF12-B1BB-243F-D533-AABCA0F9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325" y="3759200"/>
            <a:ext cx="3581400" cy="3098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C5C6A5-4128-9120-67B1-B909D307CEC0}"/>
              </a:ext>
            </a:extLst>
          </p:cNvPr>
          <p:cNvSpPr txBox="1"/>
          <p:nvPr/>
        </p:nvSpPr>
        <p:spPr>
          <a:xfrm>
            <a:off x="4431488" y="1406779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55550-AF82-B99B-2BFE-DE396AFA8048}"/>
              </a:ext>
            </a:extLst>
          </p:cNvPr>
          <p:cNvSpPr txBox="1"/>
          <p:nvPr/>
        </p:nvSpPr>
        <p:spPr>
          <a:xfrm>
            <a:off x="4431488" y="4040209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1332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36A5-0E2E-4EEF-64D1-7741FE57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BDEA4C74-EAE5-68AB-D3AA-C4D81596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33"/>
          <a:stretch>
            <a:fillRect/>
          </a:stretch>
        </p:blipFill>
        <p:spPr>
          <a:xfrm>
            <a:off x="494876" y="2201883"/>
            <a:ext cx="3095399" cy="3039271"/>
          </a:xfrm>
          <a:prstGeom prst="rect">
            <a:avLst/>
          </a:prstGeom>
        </p:spPr>
      </p:pic>
      <p:pic>
        <p:nvPicPr>
          <p:cNvPr id="22" name="Picture 21" descr="A table with a list of different degrees&#10;&#10;AI-generated content may be incorrect.">
            <a:extLst>
              <a:ext uri="{FF2B5EF4-FFF2-40B4-BE49-F238E27FC236}">
                <a16:creationId xmlns:a16="http://schemas.microsoft.com/office/drawing/2014/main" id="{033A2937-DAA1-04A9-3BAC-58541A026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791" y="4234745"/>
            <a:ext cx="3121074" cy="1101841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B1400C4D-310A-AA57-EC29-A25F552824B5}"/>
              </a:ext>
            </a:extLst>
          </p:cNvPr>
          <p:cNvGrpSpPr/>
          <p:nvPr/>
        </p:nvGrpSpPr>
        <p:grpSpPr>
          <a:xfrm>
            <a:off x="4052136" y="1535196"/>
            <a:ext cx="3203178" cy="3712618"/>
            <a:chOff x="4248905" y="3024136"/>
            <a:chExt cx="3203178" cy="371261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C1D2C70-D422-9BB2-3C35-B127ABEC36EF}"/>
                </a:ext>
              </a:extLst>
            </p:cNvPr>
            <p:cNvGrpSpPr/>
            <p:nvPr/>
          </p:nvGrpSpPr>
          <p:grpSpPr>
            <a:xfrm>
              <a:off x="4248905" y="3581699"/>
              <a:ext cx="3203178" cy="3155055"/>
              <a:chOff x="3741454" y="2271479"/>
              <a:chExt cx="3494063" cy="321953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6F90DE5-C098-4DBB-D4DB-170DF595F6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741454" y="2382833"/>
                <a:ext cx="3494063" cy="3108179"/>
                <a:chOff x="3701301" y="2814589"/>
                <a:chExt cx="3799100" cy="3379528"/>
              </a:xfrm>
            </p:grpSpPr>
            <p:pic>
              <p:nvPicPr>
                <p:cNvPr id="4" name="Picture 3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B8A2E544-5711-3568-286D-4624EB7E5A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8506" r="84179"/>
                <a:stretch>
                  <a:fillRect/>
                </a:stretch>
              </p:blipFill>
              <p:spPr>
                <a:xfrm>
                  <a:off x="4067827" y="2814589"/>
                  <a:ext cx="522382" cy="3379528"/>
                </a:xfrm>
                <a:prstGeom prst="rect">
                  <a:avLst/>
                </a:prstGeom>
              </p:spPr>
            </p:pic>
            <p:pic>
              <p:nvPicPr>
                <p:cNvPr id="5" name="Picture 4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C9F8EB2C-EBD8-EE54-53F2-21E9A89DED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59466"/>
                <a:stretch>
                  <a:fillRect/>
                </a:stretch>
              </p:blipFill>
              <p:spPr>
                <a:xfrm>
                  <a:off x="4605711" y="2814589"/>
                  <a:ext cx="2894690" cy="3379527"/>
                </a:xfrm>
                <a:prstGeom prst="rect">
                  <a:avLst/>
                </a:prstGeom>
              </p:spPr>
            </p:pic>
            <p:pic>
              <p:nvPicPr>
                <p:cNvPr id="6" name="Picture 5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478A1481-D713-2A5B-4F72-6C1583451A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t="14179" r="95015"/>
                <a:stretch>
                  <a:fillRect/>
                </a:stretch>
              </p:blipFill>
              <p:spPr>
                <a:xfrm>
                  <a:off x="3701301" y="3307978"/>
                  <a:ext cx="338903" cy="2761346"/>
                </a:xfrm>
                <a:prstGeom prst="rect">
                  <a:avLst/>
                </a:prstGeom>
              </p:spPr>
            </p:pic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945F9C1-5CEF-3EFF-E473-8E8CCE8BBFBA}"/>
                  </a:ext>
                </a:extLst>
              </p:cNvPr>
              <p:cNvSpPr/>
              <p:nvPr/>
            </p:nvSpPr>
            <p:spPr>
              <a:xfrm>
                <a:off x="4573246" y="2389183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8F4EB2E-74E3-76DC-FD09-BDF426F85D80}"/>
                  </a:ext>
                </a:extLst>
              </p:cNvPr>
              <p:cNvSpPr/>
              <p:nvPr/>
            </p:nvSpPr>
            <p:spPr>
              <a:xfrm rot="16200000">
                <a:off x="5781514" y="3502614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5B7A53E-C96F-CC75-8D8C-0272B1423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3306" t="52315"/>
            <a:stretch>
              <a:fillRect/>
            </a:stretch>
          </p:blipFill>
          <p:spPr>
            <a:xfrm>
              <a:off x="5043018" y="3592005"/>
              <a:ext cx="1537979" cy="23871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E61C540-0E45-59F5-3212-1A7A29D09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3500" r="43133"/>
            <a:stretch>
              <a:fillRect/>
            </a:stretch>
          </p:blipFill>
          <p:spPr>
            <a:xfrm>
              <a:off x="5043018" y="3293004"/>
              <a:ext cx="2383494" cy="28284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47B4280-0D5A-295A-B080-5052EB8749A3}"/>
                </a:ext>
              </a:extLst>
            </p:cNvPr>
            <p:cNvSpPr txBox="1"/>
            <p:nvPr/>
          </p:nvSpPr>
          <p:spPr>
            <a:xfrm>
              <a:off x="5603209" y="3024136"/>
              <a:ext cx="14866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Network degree</a:t>
              </a:r>
            </a:p>
          </p:txBody>
        </p:sp>
      </p:grpSp>
      <p:sp>
        <p:nvSpPr>
          <p:cNvPr id="51" name="Frame 50">
            <a:extLst>
              <a:ext uri="{FF2B5EF4-FFF2-40B4-BE49-F238E27FC236}">
                <a16:creationId xmlns:a16="http://schemas.microsoft.com/office/drawing/2014/main" id="{266DE118-998B-5FAA-4E26-07B60CD83234}"/>
              </a:ext>
            </a:extLst>
          </p:cNvPr>
          <p:cNvSpPr/>
          <p:nvPr/>
        </p:nvSpPr>
        <p:spPr>
          <a:xfrm>
            <a:off x="4002713" y="833718"/>
            <a:ext cx="3530278" cy="4586993"/>
          </a:xfrm>
          <a:prstGeom prst="frame">
            <a:avLst>
              <a:gd name="adj1" fmla="val 369"/>
            </a:avLst>
          </a:prstGeom>
          <a:ln cap="flat"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Frame 51">
            <a:extLst>
              <a:ext uri="{FF2B5EF4-FFF2-40B4-BE49-F238E27FC236}">
                <a16:creationId xmlns:a16="http://schemas.microsoft.com/office/drawing/2014/main" id="{C5244DB0-CD46-E988-A775-889C8ECFF9EE}"/>
              </a:ext>
            </a:extLst>
          </p:cNvPr>
          <p:cNvSpPr/>
          <p:nvPr/>
        </p:nvSpPr>
        <p:spPr>
          <a:xfrm>
            <a:off x="7648393" y="833718"/>
            <a:ext cx="3530278" cy="4586993"/>
          </a:xfrm>
          <a:prstGeom prst="frame">
            <a:avLst>
              <a:gd name="adj1" fmla="val 369"/>
            </a:avLst>
          </a:prstGeom>
          <a:ln cap="flat"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Frame 52">
            <a:extLst>
              <a:ext uri="{FF2B5EF4-FFF2-40B4-BE49-F238E27FC236}">
                <a16:creationId xmlns:a16="http://schemas.microsoft.com/office/drawing/2014/main" id="{AEB96B36-A652-B35B-F6A4-A225C3BEC564}"/>
              </a:ext>
            </a:extLst>
          </p:cNvPr>
          <p:cNvSpPr/>
          <p:nvPr/>
        </p:nvSpPr>
        <p:spPr>
          <a:xfrm>
            <a:off x="357033" y="833718"/>
            <a:ext cx="3530278" cy="4586993"/>
          </a:xfrm>
          <a:prstGeom prst="frame">
            <a:avLst>
              <a:gd name="adj1" fmla="val 369"/>
            </a:avLst>
          </a:prstGeom>
          <a:ln cap="flat"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4274D3-4387-9EC2-E996-40E01D28DBEF}"/>
              </a:ext>
            </a:extLst>
          </p:cNvPr>
          <p:cNvSpPr txBox="1"/>
          <p:nvPr/>
        </p:nvSpPr>
        <p:spPr>
          <a:xfrm>
            <a:off x="344509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9C56C5-144C-FD08-DDF9-B0EA26B33740}"/>
              </a:ext>
            </a:extLst>
          </p:cNvPr>
          <p:cNvSpPr txBox="1"/>
          <p:nvPr/>
        </p:nvSpPr>
        <p:spPr>
          <a:xfrm>
            <a:off x="4016958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F82B84-58B5-FA6D-8D7C-E8E7C454C28D}"/>
              </a:ext>
            </a:extLst>
          </p:cNvPr>
          <p:cNvSpPr txBox="1"/>
          <p:nvPr/>
        </p:nvSpPr>
        <p:spPr>
          <a:xfrm>
            <a:off x="7653039" y="89093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55FAC3B-1467-7B95-DDD0-7BC68F32E7F5}"/>
              </a:ext>
            </a:extLst>
          </p:cNvPr>
          <p:cNvGrpSpPr/>
          <p:nvPr/>
        </p:nvGrpSpPr>
        <p:grpSpPr>
          <a:xfrm>
            <a:off x="7856379" y="1283294"/>
            <a:ext cx="2906145" cy="3114663"/>
            <a:chOff x="7856379" y="1283294"/>
            <a:chExt cx="2906145" cy="3114663"/>
          </a:xfrm>
        </p:grpSpPr>
        <p:pic>
          <p:nvPicPr>
            <p:cNvPr id="9" name="Picture 8" descr="A diagram of a number of data&#10;&#10;AI-generated content may be incorrect.">
              <a:extLst>
                <a:ext uri="{FF2B5EF4-FFF2-40B4-BE49-F238E27FC236}">
                  <a16:creationId xmlns:a16="http://schemas.microsoft.com/office/drawing/2014/main" id="{7337774E-51DF-27FD-E0FA-A7E000912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304" t="28590" r="61652" b="14476"/>
            <a:stretch>
              <a:fillRect/>
            </a:stretch>
          </p:blipFill>
          <p:spPr>
            <a:xfrm>
              <a:off x="8199764" y="1858361"/>
              <a:ext cx="2562760" cy="240004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31ACEFB-B5E1-2746-DCB1-B4C31FDC71D8}"/>
                </a:ext>
              </a:extLst>
            </p:cNvPr>
            <p:cNvSpPr txBox="1"/>
            <p:nvPr/>
          </p:nvSpPr>
          <p:spPr>
            <a:xfrm rot="16200000">
              <a:off x="6657205" y="2875617"/>
              <a:ext cx="272151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First-order approximation error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3DA70CE-505C-172E-40ED-997C44F92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10668" y="1283294"/>
              <a:ext cx="1699062" cy="803610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5A1A7DD-9DB7-E932-3880-3AC817E012BD}"/>
              </a:ext>
            </a:extLst>
          </p:cNvPr>
          <p:cNvSpPr txBox="1"/>
          <p:nvPr/>
        </p:nvSpPr>
        <p:spPr>
          <a:xfrm>
            <a:off x="786153" y="905420"/>
            <a:ext cx="3095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Function-level characterization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CB232B-36D2-B648-1A2C-8CA41ED16F0B}"/>
              </a:ext>
            </a:extLst>
          </p:cNvPr>
          <p:cNvSpPr txBox="1"/>
          <p:nvPr/>
        </p:nvSpPr>
        <p:spPr>
          <a:xfrm>
            <a:off x="4660196" y="921716"/>
            <a:ext cx="2856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Parameter space exploration </a:t>
            </a:r>
            <a:endParaRPr lang="en-US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CA746E-418E-C1B1-F936-22F64F2AF81B}"/>
              </a:ext>
            </a:extLst>
          </p:cNvPr>
          <p:cNvSpPr txBox="1"/>
          <p:nvPr/>
        </p:nvSpPr>
        <p:spPr>
          <a:xfrm>
            <a:off x="8207536" y="889229"/>
            <a:ext cx="2964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Null model hypothesis testing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5E9689-B409-C04C-CCB1-1A01D2CFDABD}"/>
              </a:ext>
            </a:extLst>
          </p:cNvPr>
          <p:cNvSpPr txBox="1"/>
          <p:nvPr/>
        </p:nvSpPr>
        <p:spPr>
          <a:xfrm>
            <a:off x="1990335" y="2338417"/>
            <a:ext cx="17884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E6550E"/>
                </a:solidFill>
              </a:rPr>
              <a:t>biological networks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4EBBE0-AD4F-1313-9DD7-3B41CA465944}"/>
              </a:ext>
            </a:extLst>
          </p:cNvPr>
          <p:cNvSpPr txBox="1"/>
          <p:nvPr/>
        </p:nvSpPr>
        <p:spPr>
          <a:xfrm>
            <a:off x="2135401" y="3843959"/>
            <a:ext cx="17643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expectation</a:t>
            </a:r>
            <a:b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(random functions)</a:t>
            </a:r>
          </a:p>
        </p:txBody>
      </p:sp>
    </p:spTree>
    <p:extLst>
      <p:ext uri="{BB962C8B-B14F-4D97-AF65-F5344CB8AC3E}">
        <p14:creationId xmlns:p14="http://schemas.microsoft.com/office/powerpoint/2010/main" val="396912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FDF6-EF9D-BCEC-8B81-4E75B61E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0CB7C-7B4E-B27A-913F-AD37BF6ED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81"/>
          <a:stretch>
            <a:fillRect/>
          </a:stretch>
        </p:blipFill>
        <p:spPr>
          <a:xfrm>
            <a:off x="714729" y="2338417"/>
            <a:ext cx="2993408" cy="28676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D36978-2F52-9BDA-24D8-EA3DEC8724EF}"/>
              </a:ext>
            </a:extLst>
          </p:cNvPr>
          <p:cNvSpPr txBox="1"/>
          <p:nvPr/>
        </p:nvSpPr>
        <p:spPr>
          <a:xfrm>
            <a:off x="7688407" y="912002"/>
            <a:ext cx="3521864" cy="4476452"/>
          </a:xfrm>
          <a:prstGeom prst="roundRect">
            <a:avLst>
              <a:gd name="adj" fmla="val 788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910065-785D-152B-2397-AEF3339E2453}"/>
              </a:ext>
            </a:extLst>
          </p:cNvPr>
          <p:cNvSpPr txBox="1"/>
          <p:nvPr/>
        </p:nvSpPr>
        <p:spPr>
          <a:xfrm>
            <a:off x="826494" y="921716"/>
            <a:ext cx="3095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Function-level characterization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6B8307-9282-5407-F5DD-9F3424F89B25}"/>
              </a:ext>
            </a:extLst>
          </p:cNvPr>
          <p:cNvSpPr txBox="1"/>
          <p:nvPr/>
        </p:nvSpPr>
        <p:spPr>
          <a:xfrm>
            <a:off x="4606408" y="921716"/>
            <a:ext cx="2856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Parameter space exploration </a:t>
            </a:r>
            <a:endParaRPr lang="en-US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B8A7B-878F-CF7F-E31B-6D3821A1A314}"/>
              </a:ext>
            </a:extLst>
          </p:cNvPr>
          <p:cNvSpPr txBox="1"/>
          <p:nvPr/>
        </p:nvSpPr>
        <p:spPr>
          <a:xfrm>
            <a:off x="369367" y="921716"/>
            <a:ext cx="3521864" cy="4476452"/>
          </a:xfrm>
          <a:prstGeom prst="roundRect">
            <a:avLst>
              <a:gd name="adj" fmla="val 788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7CB346-79F3-6D54-98C8-7C8C562C9FD5}"/>
              </a:ext>
            </a:extLst>
          </p:cNvPr>
          <p:cNvSpPr txBox="1"/>
          <p:nvPr/>
        </p:nvSpPr>
        <p:spPr>
          <a:xfrm>
            <a:off x="8059619" y="921716"/>
            <a:ext cx="2964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Null model hypothesis 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5393A-D68B-FAA7-E82F-EC538291B8B8}"/>
              </a:ext>
            </a:extLst>
          </p:cNvPr>
          <p:cNvSpPr txBox="1"/>
          <p:nvPr/>
        </p:nvSpPr>
        <p:spPr>
          <a:xfrm>
            <a:off x="4056110" y="910604"/>
            <a:ext cx="3521864" cy="4476452"/>
          </a:xfrm>
          <a:prstGeom prst="roundRect">
            <a:avLst>
              <a:gd name="adj" fmla="val 788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</p:txBody>
      </p:sp>
      <p:pic>
        <p:nvPicPr>
          <p:cNvPr id="22" name="Picture 21" descr="A table with a list of different degrees&#10;&#10;AI-generated content may be incorrect.">
            <a:extLst>
              <a:ext uri="{FF2B5EF4-FFF2-40B4-BE49-F238E27FC236}">
                <a16:creationId xmlns:a16="http://schemas.microsoft.com/office/drawing/2014/main" id="{A7814195-DAFB-B146-A8FA-B9CF176BA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897" y="4217227"/>
            <a:ext cx="3208785" cy="1132806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4791505F-F5BE-5E96-FA79-F5B3726EEFF1}"/>
              </a:ext>
            </a:extLst>
          </p:cNvPr>
          <p:cNvGrpSpPr/>
          <p:nvPr/>
        </p:nvGrpSpPr>
        <p:grpSpPr>
          <a:xfrm>
            <a:off x="4132817" y="1523516"/>
            <a:ext cx="3232824" cy="3724298"/>
            <a:chOff x="4235457" y="3012456"/>
            <a:chExt cx="3232824" cy="372429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069D2F8-A682-EE36-B8DA-663A3FE3073E}"/>
                </a:ext>
              </a:extLst>
            </p:cNvPr>
            <p:cNvGrpSpPr/>
            <p:nvPr/>
          </p:nvGrpSpPr>
          <p:grpSpPr>
            <a:xfrm>
              <a:off x="4235457" y="3581699"/>
              <a:ext cx="3216625" cy="3155055"/>
              <a:chOff x="3726785" y="2271479"/>
              <a:chExt cx="3508731" cy="321953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6AC6B99-F01D-01B2-F1CC-62BD24497EA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726785" y="2382833"/>
                <a:ext cx="3508731" cy="3108179"/>
                <a:chOff x="3685352" y="2814589"/>
                <a:chExt cx="3815049" cy="3379528"/>
              </a:xfrm>
            </p:grpSpPr>
            <p:pic>
              <p:nvPicPr>
                <p:cNvPr id="4" name="Picture 3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56CD5707-742F-DC60-39B1-A266DA5DF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8506" r="84179"/>
                <a:stretch>
                  <a:fillRect/>
                </a:stretch>
              </p:blipFill>
              <p:spPr>
                <a:xfrm>
                  <a:off x="4067827" y="2814589"/>
                  <a:ext cx="522382" cy="3379528"/>
                </a:xfrm>
                <a:prstGeom prst="rect">
                  <a:avLst/>
                </a:prstGeom>
              </p:spPr>
            </p:pic>
            <p:pic>
              <p:nvPicPr>
                <p:cNvPr id="5" name="Picture 4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CF6E992C-F33D-B87C-A3EF-0670C64D01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59466"/>
                <a:stretch>
                  <a:fillRect/>
                </a:stretch>
              </p:blipFill>
              <p:spPr>
                <a:xfrm>
                  <a:off x="4605711" y="2814589"/>
                  <a:ext cx="2894690" cy="3379527"/>
                </a:xfrm>
                <a:prstGeom prst="rect">
                  <a:avLst/>
                </a:prstGeom>
              </p:spPr>
            </p:pic>
            <p:pic>
              <p:nvPicPr>
                <p:cNvPr id="6" name="Picture 5" descr="A graph of different sizes and colors&#10;&#10;AI-generated content may be incorrect.">
                  <a:extLst>
                    <a:ext uri="{FF2B5EF4-FFF2-40B4-BE49-F238E27FC236}">
                      <a16:creationId xmlns:a16="http://schemas.microsoft.com/office/drawing/2014/main" id="{5D7F8D4C-68A0-009E-C65D-72E7A4D3B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t="14179" r="95015"/>
                <a:stretch>
                  <a:fillRect/>
                </a:stretch>
              </p:blipFill>
              <p:spPr>
                <a:xfrm>
                  <a:off x="3685352" y="3307978"/>
                  <a:ext cx="338903" cy="2761346"/>
                </a:xfrm>
                <a:prstGeom prst="rect">
                  <a:avLst/>
                </a:prstGeom>
              </p:spPr>
            </p:pic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CD4A53-A4F0-C0E2-E097-E140360DF0E2}"/>
                  </a:ext>
                </a:extLst>
              </p:cNvPr>
              <p:cNvSpPr/>
              <p:nvPr/>
            </p:nvSpPr>
            <p:spPr>
              <a:xfrm>
                <a:off x="4573246" y="2389183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1191CD8-F38C-2CEA-01C9-E9682DAF8D72}"/>
                  </a:ext>
                </a:extLst>
              </p:cNvPr>
              <p:cNvSpPr/>
              <p:nvPr/>
            </p:nvSpPr>
            <p:spPr>
              <a:xfrm rot="16200000">
                <a:off x="5781514" y="3502614"/>
                <a:ext cx="2634378" cy="172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C6552EB-7F4D-96A1-041F-B14C6FEF5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3306" t="52315"/>
            <a:stretch>
              <a:fillRect/>
            </a:stretch>
          </p:blipFill>
          <p:spPr>
            <a:xfrm>
              <a:off x="5930302" y="3616169"/>
              <a:ext cx="1537979" cy="23871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7837D6B2-2741-CA8F-03C9-237CF5BDE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3500" r="43133"/>
            <a:stretch>
              <a:fillRect/>
            </a:stretch>
          </p:blipFill>
          <p:spPr>
            <a:xfrm>
              <a:off x="5043018" y="3293004"/>
              <a:ext cx="2383494" cy="28284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97B63C5-14A5-B148-DC44-26176E6F7DD9}"/>
                </a:ext>
              </a:extLst>
            </p:cNvPr>
            <p:cNvSpPr txBox="1"/>
            <p:nvPr/>
          </p:nvSpPr>
          <p:spPr>
            <a:xfrm>
              <a:off x="5481888" y="3012456"/>
              <a:ext cx="174304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constant in-degree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DCDD72F6-F348-9F5B-B442-6CFA46160C7E}"/>
              </a:ext>
            </a:extLst>
          </p:cNvPr>
          <p:cNvSpPr txBox="1"/>
          <p:nvPr/>
        </p:nvSpPr>
        <p:spPr>
          <a:xfrm>
            <a:off x="505873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98C547-479B-5180-5D7B-0FFF61DFE239}"/>
              </a:ext>
            </a:extLst>
          </p:cNvPr>
          <p:cNvSpPr txBox="1"/>
          <p:nvPr/>
        </p:nvSpPr>
        <p:spPr>
          <a:xfrm>
            <a:off x="4124534" y="8909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C64C76-D9EF-6A87-0C7D-42E0A292EF24}"/>
              </a:ext>
            </a:extLst>
          </p:cNvPr>
          <p:cNvSpPr txBox="1"/>
          <p:nvPr/>
        </p:nvSpPr>
        <p:spPr>
          <a:xfrm>
            <a:off x="7733721" y="89093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6F3556B-48FB-1B00-0EFA-BC952FA012B7}"/>
              </a:ext>
            </a:extLst>
          </p:cNvPr>
          <p:cNvGrpSpPr/>
          <p:nvPr/>
        </p:nvGrpSpPr>
        <p:grpSpPr>
          <a:xfrm>
            <a:off x="7762250" y="1283294"/>
            <a:ext cx="2906145" cy="3114663"/>
            <a:chOff x="7856379" y="1283294"/>
            <a:chExt cx="2906145" cy="3114663"/>
          </a:xfrm>
        </p:grpSpPr>
        <p:pic>
          <p:nvPicPr>
            <p:cNvPr id="9" name="Picture 8" descr="A diagram of a number of data&#10;&#10;AI-generated content may be incorrect.">
              <a:extLst>
                <a:ext uri="{FF2B5EF4-FFF2-40B4-BE49-F238E27FC236}">
                  <a16:creationId xmlns:a16="http://schemas.microsoft.com/office/drawing/2014/main" id="{F6ED234B-0020-0FCE-5A91-2E9F09DB9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304" t="28590" r="61652" b="14476"/>
            <a:stretch>
              <a:fillRect/>
            </a:stretch>
          </p:blipFill>
          <p:spPr>
            <a:xfrm>
              <a:off x="8199764" y="1858361"/>
              <a:ext cx="2562760" cy="240004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035742-A9E0-1607-3A21-7A677242D163}"/>
                </a:ext>
              </a:extLst>
            </p:cNvPr>
            <p:cNvSpPr txBox="1"/>
            <p:nvPr/>
          </p:nvSpPr>
          <p:spPr>
            <a:xfrm rot="16200000">
              <a:off x="6657205" y="2875617"/>
              <a:ext cx="272151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First-order approximation error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D4256BB-F565-9F76-420A-432D423B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10668" y="1283294"/>
              <a:ext cx="1699062" cy="80361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2E97A4B-9EDF-C370-1523-722C9B41B650}"/>
              </a:ext>
            </a:extLst>
          </p:cNvPr>
          <p:cNvSpPr txBox="1"/>
          <p:nvPr/>
        </p:nvSpPr>
        <p:spPr>
          <a:xfrm>
            <a:off x="1990335" y="2338417"/>
            <a:ext cx="17884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E6550E"/>
                </a:solidFill>
              </a:rPr>
              <a:t>biological 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29C0AB-4AA7-59E4-717A-A7B3DC6DB4D2}"/>
              </a:ext>
            </a:extLst>
          </p:cNvPr>
          <p:cNvSpPr txBox="1"/>
          <p:nvPr/>
        </p:nvSpPr>
        <p:spPr>
          <a:xfrm>
            <a:off x="2135401" y="3843959"/>
            <a:ext cx="17643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expectation</a:t>
            </a:r>
            <a:b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(random functions)</a:t>
            </a:r>
          </a:p>
        </p:txBody>
      </p:sp>
    </p:spTree>
    <p:extLst>
      <p:ext uri="{BB962C8B-B14F-4D97-AF65-F5344CB8AC3E}">
        <p14:creationId xmlns:p14="http://schemas.microsoft.com/office/powerpoint/2010/main" val="316222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10019</TotalTime>
  <Words>296</Words>
  <Application>Microsoft Macintosh PowerPoint</Application>
  <PresentationFormat>Widescreen</PresentationFormat>
  <Paragraphs>135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Kadelka, Claus [MATH]</dc:creator>
  <cp:lastModifiedBy>Kadelka, Claus [MATH]</cp:lastModifiedBy>
  <cp:revision>4</cp:revision>
  <cp:lastPrinted>2026-05-06T16:36:52Z</cp:lastPrinted>
  <dcterms:created xsi:type="dcterms:W3CDTF">2026-05-06T05:34:23Z</dcterms:created>
  <dcterms:modified xsi:type="dcterms:W3CDTF">2026-06-11T06:01:17Z</dcterms:modified>
</cp:coreProperties>
</file>